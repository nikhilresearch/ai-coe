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3200400" cy="41148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  <a:latin typeface="Calibri"/>
              </a:rPr>
              <a:t>✦  BIMTECH × Reskilll  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AI Build Bootcamp</a:t>
            </a:r>
          </a:p>
          <a:p>
            <a:pPr algn="l"/>
            <a:r>
              <a:rPr sz="4600" b="1" i="0">
                <a:solidFill>
                  <a:srgbClr val="00D4FF"/>
                </a:solidFill>
                <a:latin typeface="Calibri"/>
              </a:rPr>
              <a:t>&amp;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DDEE"/>
                </a:solidFill>
                <a:latin typeface="Calibri"/>
              </a:rPr>
              <a:t>Empowering Future Managers with AI Skills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66160"/>
            <a:ext cx="4754880" cy="502920"/>
          </a:xfrm>
          <a:prstGeom prst="rect">
            <a:avLst/>
          </a:prstGeom>
          <a:solidFill>
            <a:srgbClr val="1A085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4AAFF"/>
                </a:solidFill>
                <a:latin typeface="Calibri"/>
              </a:rPr>
              <a:t>📅  7–8 August 2026   |   9:00 AM – 7:00 PM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51960"/>
            <a:ext cx="109728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434840"/>
            <a:ext cx="5120640" cy="1920240"/>
          </a:xfrm>
          <a:prstGeom prst="rect">
            <a:avLst/>
          </a:prstGeom>
          <a:solidFill>
            <a:srgbClr val="0A1745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4526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🤔  Why This Initiative?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956048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  <a:latin typeface="Calibri"/>
              </a:rPr>
              <a:t>AI is transforming every business function — Finance, Marketing, HR,
Operations &amp; Strategy. Tomorrow's managers will not only use AI but
also build AI-enabled business solutions.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4434840"/>
            <a:ext cx="5120640" cy="1920240"/>
          </a:xfrm>
          <a:prstGeom prst="rect">
            <a:avLst/>
          </a:prstGeom>
          <a:solidFill>
            <a:srgbClr val="0A1745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4526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🎯 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4956048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  <a:latin typeface="Calibri"/>
              </a:rPr>
              <a:t>Equip every first-year MBA student with hands-on experience in
designing and building AI-powered business applications.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0" y="91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✦  STUDENT IMPACT  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Why This Matters</a:t>
            </a:r>
          </a:p>
          <a:p>
            <a:pPr algn="l"/>
            <a:r>
              <a:rPr sz="3600" b="1" i="0">
                <a:solidFill>
                  <a:srgbClr val="00D4FF"/>
                </a:solidFill>
                <a:latin typeface="Calibri"/>
              </a:rPr>
              <a:t>to Our Students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9144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5303520" cy="3840480"/>
          </a:xfrm>
          <a:prstGeom prst="rect">
            <a:avLst/>
          </a:prstGeom>
          <a:solidFill>
            <a:srgbClr val="081440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🧠  Students Will Learn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8716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→  Convert business problems into AI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0837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→  Work collaboratively in multidisciplinary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958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→  Build AI-enabled prototypes without extensive 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50791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→  Develop innovation &amp; design-thinking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72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→  Present solutions before industry experts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920240"/>
            <a:ext cx="5852160" cy="3840480"/>
          </a:xfrm>
          <a:prstGeom prst="rect">
            <a:avLst/>
          </a:prstGeom>
          <a:solidFill>
            <a:srgbClr val="081440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0116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🏆 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4871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  <a:latin typeface="Calibri"/>
              </a:rPr>
              <a:t>✔  Hands-on AI Exposure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00837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  <a:latin typeface="Calibri"/>
              </a:rPr>
              <a:t>✔  Practical Problem-Solving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52958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  <a:latin typeface="Calibri"/>
              </a:rPr>
              <a:t>✔  Industry Interaction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4050791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  <a:latin typeface="Calibri"/>
              </a:rPr>
              <a:t>✔  Innovation Mindset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  <a:latin typeface="Calibri"/>
              </a:rPr>
              <a:t>✔  Portfolio-Worthy Projects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943600"/>
            <a:ext cx="11430000" cy="621792"/>
          </a:xfrm>
          <a:prstGeom prst="rect">
            <a:avLst/>
          </a:prstGeom>
          <a:solidFill>
            <a:srgbClr val="0A1A5C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00D4FF"/>
                </a:solidFill>
                <a:latin typeface="Calibri"/>
              </a:rPr>
              <a:t>"Learn AI by Building, Not Just by Reading."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0" y="91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✦  EVENT STRUCTURE  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AI Build Bootcamp  </a:t>
            </a:r>
          </a:p>
          <a:p>
            <a:pPr algn="l"/>
            <a:r>
              <a:rPr sz="3400" b="1" i="0">
                <a:solidFill>
                  <a:srgbClr val="00D4FF"/>
                </a:solidFill>
                <a:latin typeface="Calibri"/>
              </a:rPr>
              <a:t>&amp; Hackathon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9144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3657600" cy="4480560"/>
          </a:xfrm>
          <a:prstGeom prst="rect">
            <a:avLst/>
          </a:prstGeom>
          <a:solidFill>
            <a:srgbClr val="08123E"/>
          </a:solidFill>
          <a:ln w="9525">
            <a:solidFill>
              <a:srgbClr val="1A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  <a:latin typeface="Calibri"/>
              </a:rPr>
              <a:t>📅 Day 1 — 7 August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AI Bootcamp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▸  Introduction to AI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▸  Guided hands-on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69080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▸  Team 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▸  Problem statement briefing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828800"/>
            <a:ext cx="3657600" cy="4480560"/>
          </a:xfrm>
          <a:prstGeom prst="rect">
            <a:avLst/>
          </a:prstGeom>
          <a:solidFill>
            <a:srgbClr val="08123E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920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  <a:latin typeface="Calibri"/>
              </a:rPr>
              <a:t>🚀 Day 2 — 8 August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AI Hackathon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880360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▸  Prototype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474720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▸  Mentoring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069080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▸  Project submission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663440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▸  Evaluation by Reskilll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828800"/>
            <a:ext cx="3657600" cy="4480560"/>
          </a:xfrm>
          <a:prstGeom prst="rect">
            <a:avLst/>
          </a:prstGeom>
          <a:solidFill>
            <a:srgbClr val="08123E"/>
          </a:solidFill>
          <a:ln w="9525">
            <a:solidFill>
              <a:srgbClr val="B4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920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FF"/>
                </a:solidFill>
                <a:latin typeface="Calibri"/>
              </a:rPr>
              <a:t>🏅 19 August — Pitch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Top 10 Teams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880360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842"/>
                </a:solidFill>
                <a:latin typeface="Calibri"/>
              </a:rPr>
              <a:t>▸  Present before Industry Experts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474720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842"/>
                </a:solidFill>
                <a:latin typeface="Calibri"/>
              </a:rPr>
              <a:t>▸  Advisory Committee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069080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842"/>
                </a:solidFill>
                <a:latin typeface="Calibri"/>
              </a:rPr>
              <a:t>▸  Faculty Jury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663440"/>
            <a:ext cx="3337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842"/>
                </a:solidFill>
                <a:latin typeface="Calibri"/>
              </a:rPr>
              <a:t>▸  ⭐ Top 3 Teams Rewarded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0" y="91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✦  YOUR ROLE MATTERS  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Role of Programme Chairs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  <a:latin typeface="Calibri"/>
              </a:rPr>
              <a:t>Programme Chairs play a critical role in making this initiative successful.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38528"/>
            <a:ext cx="9144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5303520" cy="4297680"/>
          </a:xfrm>
          <a:prstGeom prst="rect">
            <a:avLst/>
          </a:prstGeom>
          <a:solidFill>
            <a:srgbClr val="081440"/>
          </a:solidFill>
          <a:ln w="9525">
            <a:solidFill>
              <a:srgbClr val="1A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128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🤝  Support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  <a:latin typeface="Calibri"/>
              </a:rPr>
              <a:t>→  Encourage maximum student participation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6440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  <a:latin typeface="Calibri"/>
              </a:rPr>
              <a:t>→  Ensure students attend as per batch allocation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3133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  <a:latin typeface="Calibri"/>
              </a:rPr>
              <a:t>→  Minimise class disruptions during the 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982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  <a:latin typeface="Calibri"/>
              </a:rPr>
              <a:t>→  Motivate students to treat it as a learning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6519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  <a:latin typeface="Calibri"/>
              </a:rPr>
              <a:t>→  Coordinate with faculty mentors wherever required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103120"/>
            <a:ext cx="5852160" cy="4297680"/>
          </a:xfrm>
          <a:prstGeom prst="rect">
            <a:avLst/>
          </a:prstGeom>
          <a:solidFill>
            <a:srgbClr val="150840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2128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Calibri"/>
              </a:rPr>
              <a:t>🎁  Student Benefits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724912"/>
            <a:ext cx="5394960" cy="512064"/>
          </a:xfrm>
          <a:prstGeom prst="rect">
            <a:avLst/>
          </a:prstGeom>
          <a:solidFill>
            <a:srgbClr val="201050"/>
          </a:solidFill>
          <a:ln w="63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74320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842"/>
                </a:solidFill>
                <a:latin typeface="Calibri"/>
              </a:rPr>
              <a:t>🏆  Joint BIMTECH–Reskilll Certificate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383280"/>
            <a:ext cx="5394960" cy="512064"/>
          </a:xfrm>
          <a:prstGeom prst="rect">
            <a:avLst/>
          </a:prstGeom>
          <a:solidFill>
            <a:srgbClr val="201050"/>
          </a:solidFill>
          <a:ln w="63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401568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842"/>
                </a:solidFill>
                <a:latin typeface="Calibri"/>
              </a:rPr>
              <a:t>🏭  Industry Exposure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4041648"/>
            <a:ext cx="5394960" cy="512064"/>
          </a:xfrm>
          <a:prstGeom prst="rect">
            <a:avLst/>
          </a:prstGeom>
          <a:solidFill>
            <a:srgbClr val="201050"/>
          </a:solidFill>
          <a:ln w="63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059935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842"/>
                </a:solidFill>
                <a:latin typeface="Calibri"/>
              </a:rPr>
              <a:t>💼  AI Portfolio Project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4700016"/>
            <a:ext cx="5394960" cy="512064"/>
          </a:xfrm>
          <a:prstGeom prst="rect">
            <a:avLst/>
          </a:prstGeom>
          <a:solidFill>
            <a:srgbClr val="201050"/>
          </a:solidFill>
          <a:ln w="63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4718304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842"/>
                </a:solidFill>
                <a:latin typeface="Calibri"/>
              </a:rPr>
              <a:t>🥇  Recognition for Top Teams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5358383"/>
            <a:ext cx="5394960" cy="512064"/>
          </a:xfrm>
          <a:prstGeom prst="rect">
            <a:avLst/>
          </a:prstGeom>
          <a:solidFill>
            <a:srgbClr val="201050"/>
          </a:solidFill>
          <a:ln w="6350">
            <a:solidFill>
              <a:srgbClr val="F5C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5376672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C842"/>
                </a:solidFill>
                <a:latin typeface="Calibri"/>
              </a:rPr>
              <a:t>🎙️  Present Before Industry Leaders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0" y="91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✦  BIGGER PICTURE  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13232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Building the AI Culture</a:t>
            </a:r>
          </a:p>
          <a:p>
            <a:pPr algn="l"/>
            <a:r>
              <a:rPr sz="3400" b="1" i="0">
                <a:solidFill>
                  <a:srgbClr val="00D4FF"/>
                </a:solidFill>
                <a:latin typeface="Calibri"/>
              </a:rPr>
              <a:t>at BIMTECH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11430000" cy="822960"/>
          </a:xfrm>
          <a:prstGeom prst="rect">
            <a:avLst/>
          </a:prstGeom>
          <a:solidFill>
            <a:srgbClr val="0A1A5C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00D4FF"/>
                </a:solidFill>
                <a:latin typeface="Calibri"/>
              </a:rPr>
              <a:t>"This is more than a Hackathon. It is the first flagship initiative of the AI Centre of Excellence."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834640"/>
            <a:ext cx="5303520" cy="1188720"/>
          </a:xfrm>
          <a:prstGeom prst="rect">
            <a:avLst/>
          </a:prstGeom>
          <a:solidFill>
            <a:srgbClr val="081440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842"/>
                </a:solidFill>
                <a:latin typeface="Calibri"/>
              </a:rPr>
              <a:t>🌟 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Create AI-literate management professionals capable of solving
real business challenges using AI.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251960"/>
            <a:ext cx="11430000" cy="960120"/>
          </a:xfrm>
          <a:prstGeom prst="rect">
            <a:avLst/>
          </a:prstGeom>
          <a:solidFill>
            <a:srgbClr val="061238"/>
          </a:solidFill>
          <a:ln w="9525">
            <a:solidFill>
              <a:srgbClr val="1A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3159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🗺️  Our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  <a:latin typeface="Calibri"/>
              </a:rPr>
              <a:t>AI Bootcamp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1096" y="475488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  <a:latin typeface="Calibri"/>
              </a:rPr>
              <a:t>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47548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  <a:latin typeface="Calibri"/>
              </a:rPr>
              <a:t>AI Hackathon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475488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  <a:latin typeface="Calibri"/>
              </a:rPr>
              <a:t>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47548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  <a:latin typeface="Calibri"/>
              </a:rPr>
              <a:t>Pitch 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475488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  <a:latin typeface="Calibri"/>
              </a:rPr>
              <a:t>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8736" y="47548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  <a:latin typeface="Calibri"/>
              </a:rPr>
              <a:t>AI Centre of Excellence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2" y="475488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  <a:latin typeface="Calibri"/>
              </a:rPr>
              <a:t>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47548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  <a:latin typeface="Calibri"/>
              </a:rPr>
              <a:t>Industry Projects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475488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  <a:latin typeface="Calibri"/>
              </a:rPr>
              <a:t>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7548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842"/>
                </a:solidFill>
                <a:latin typeface="Calibri"/>
              </a:rPr>
              <a:t>🚀 AI Innovation Ecosystem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0" y="91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